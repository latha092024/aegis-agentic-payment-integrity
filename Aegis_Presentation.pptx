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98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Hi, my name is [Name], and I’m a student at [University]. Today I want to show you a project I built called Aegis. It’s an AI system that reviews medical insurance claims and decides whether they should be paid. I’ll walk you through the problem it solves, how it works, a quick live demo, and where I’d take it next. Quick note on the name — Aegis means “a shield.” And that’s really the whole idea: there’s a safety layer that always keeps a human in control of the AI.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80160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Payment-Integrity Analyst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 that reasons across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Treatment, Payment, and Operations</a:t>
            </a:r>
            <a:r>
              <a:rPr lang="en-US" sz="1500" dirty="0">
                <a:solidFill>
                  <a:srgbClr val="AF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governance in the loop.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Clinical Decision Making &amp; Pattern Recognition in Health Care (TPO)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Latha Boralingaiah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9FB8BF"/>
                </a:solidFill>
                <a:latin typeface="Calibri" pitchFamily="34" charset="0"/>
                <a:cs typeface="Calibri" pitchFamily="34" charset="-120"/>
              </a:rPr>
              <a:t>Email : </a:t>
            </a:r>
            <a:r>
              <a:rPr lang="en-US" sz="1250" dirty="0" err="1">
                <a:solidFill>
                  <a:srgbClr val="9FB8BF"/>
                </a:solidFill>
                <a:latin typeface="Calibri" pitchFamily="34" charset="0"/>
                <a:cs typeface="Calibri" pitchFamily="34" charset="-120"/>
              </a:rPr>
              <a:t>latha.boralingaiah@sjsu.edu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$31.7B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Medicare fee-for-service payments (FY2024)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0128" y="132588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47288" y="1481328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$87.1B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47288" y="228600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payments across all CMS programs (FY2024)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17336" y="1325880"/>
            <a:ext cx="26791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54496" y="1481328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~37,500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54496" y="2286000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manually sampled per year for error testing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insurers process millions of claims a year. </a:t>
            </a:r>
            <a:r>
              <a:rPr lang="en-US" sz="15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slow, costly, and inconsistent, and most errors come from unsupported coding or missing documentation — exactly the work an agent can screen at scale.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CMS FY2024 Improper Payments; KFF (2025).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Approach: Agentic AI for TPO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given a goal and a set of tools; it decides which to call, reasons over the results, and reaches a decision. </a:t>
            </a: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serves all three sides of the business: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6791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1288" y="2286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04088" y="278892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— is the ordered care consistent with guidelines?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10128" y="2057400"/>
            <a:ext cx="26791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93008" y="2240280"/>
            <a:ext cx="384048" cy="3840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9300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68496" y="2286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11296" y="278892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review &amp; coding validation — should this claim be paid?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17336" y="2057400"/>
            <a:ext cx="267919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0216" y="224028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021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75704" y="2286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18504" y="2788920"/>
            <a:ext cx="2276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analytics — clustering and anomaly detection across providers.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63240" y="123444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63240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tabs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06240" y="1783080"/>
            <a:ext cx="0" cy="164592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review_claim()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06240" y="2514600"/>
            <a:ext cx="0" cy="164592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63240" y="26974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632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rules · Live LLM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06440" y="269748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0644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· ML · CDS · RAG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49240" y="2971800"/>
            <a:ext cx="457200" cy="0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6240" y="3246120"/>
            <a:ext cx="0" cy="164592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63240" y="34290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6324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C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audit log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22333B"/>
          </a:solidFill>
          <a:ln w="12700">
            <a:solidFill>
              <a:srgbClr val="22333B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knowledge   </a:t>
            </a:r>
            <a:r>
              <a:rPr lang="en-US" sz="1250" dirty="0">
                <a:solidFill>
                  <a:srgbClr val="B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· policy rules · real CMS charges · trained models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0" y="3246120"/>
            <a:ext cx="0" cy="1005840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19842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checks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313432" y="2057400"/>
            <a:ext cx="201168" cy="0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42032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9842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52544" y="2057400"/>
            <a:ext cx="201168" cy="0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81144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0872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90872" y="19842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over results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91656" y="2057400"/>
            <a:ext cx="201168" cy="0"/>
          </a:xfrm>
          <a:prstGeom prst="line">
            <a:avLst/>
          </a:prstGeom>
          <a:noFill/>
          <a:ln w="22225">
            <a:solidFill>
              <a:srgbClr val="7C8B9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20256" y="16002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9984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9984" y="19842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108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gate.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— approve, deny, or route to a human — passes through guardrails first. Low confidence or a high-dollar denial is escalated to a human, and every step is written to an immutable audit log.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runs a deterministic sequence for reliability; Live mode uses a real LLM that chooses its own tools.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HAS A BUSINESS PURPOSE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7512" y="1554480"/>
            <a:ext cx="146304" cy="146304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5256" y="1481328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7512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NCCI, medical necessity, duplicates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87752" y="137160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52344" y="1554480"/>
            <a:ext cx="146304" cy="14630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0088" y="1481328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52344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&amp; cites the governing policy 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72584" y="137160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37176" y="1554480"/>
            <a:ext cx="146304" cy="146304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1481328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risk model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37176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probability a claim is problematic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57416" y="137160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22008" y="1554480"/>
            <a:ext cx="146304" cy="14630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59752" y="1481328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22008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providers unlike their billing peers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2752344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7512" y="2935224"/>
            <a:ext cx="146304" cy="146304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" y="2862072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7512" y="3209544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abnormal billing spikes over 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87752" y="2752344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52344" y="2935224"/>
            <a:ext cx="146304" cy="14630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90088" y="2862072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support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752344" y="3209544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care against clinical guidelines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72584" y="2752344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37176" y="2935224"/>
            <a:ext cx="146304" cy="146304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2862072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837176" y="3209544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guardrails + audit trail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57416" y="2752344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22008" y="2935224"/>
            <a:ext cx="146304" cy="14630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59752" y="2862072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reasoning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22008" y="3209544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explainable decision trace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One Decision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5488" y="1344168"/>
            <a:ext cx="4815773" cy="3209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D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4760909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36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screen: a claim reviewed end-to-end.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4F8F9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1627632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denied an unbundled claim with 93% confidence, citing the exact NCCI rule.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risk intelligence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risk model, KMeans peer group, and time-series signal appear alongside — the risk score is advisory, never the sole reason to deny.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Analytics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5488" y="1519871"/>
            <a:ext cx="5084064" cy="2858139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D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47303"/>
            <a:ext cx="5029200" cy="2803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36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peer clusters + per-provider daily volume.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4F8F9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1627632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are grouped by billing behavior; those far from their peers are flagged as outliers (P-213, P-217).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z-score catches an abrupt billing spike (z = +3.7) a single-claim check would miss.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Answers &amp; Clinical Safety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TREATMENT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5488" y="1344168"/>
            <a:ext cx="4032504" cy="23014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D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3977640" cy="22465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6913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retrieved passages + cited answer.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36008" y="1344168"/>
            <a:ext cx="4032504" cy="229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D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assets/c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71600"/>
            <a:ext cx="3977640" cy="22423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687089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CDS: metformin contraindication → route to clinician.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governing policy and answers with a citation. </a:t>
            </a:r>
            <a:r>
              <a:rPr lang="en-US" sz="1300" b="1" dirty="0">
                <a:solidFill>
                  <a:srgbClr val="E1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care itself — here it catches a drug-safety issue and escalates it to a clinician rather than deciding alone.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78608" y="141732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78608" y="1572768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78608" y="23774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54296" y="141732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54296" y="1572768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54296" y="23774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9984" y="1417320"/>
            <a:ext cx="195681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9984" y="1572768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15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ms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29984" y="23774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claim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2918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(rules + ML + governance) was run over 300 labeled synthetic claims. </a:t>
            </a: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 intentionally imperfect — the labeled data includes noise — which is realistic for a claims-risk system and shows this is an engineering evaluation, not a cherry-picked demo. “Flagged” = any verdict other than approve.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Threats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VIEW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FF7F4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310896" cy="310896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33856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far more claims, consistently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covers Treatment + Payment + Operations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explainable and cited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dollars tied to each error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DEEEE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1572768"/>
            <a:ext cx="310896" cy="310896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94376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flags cause provider abrasion &amp; appeals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denials invite regulatory risk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compound an early error downstream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limits data; black-box over-reliance is risky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55448" cy="155448"/>
          </a:xfrm>
          <a:prstGeom prst="ellipse">
            <a:avLst/>
          </a:prstGeom>
          <a:solidFill>
            <a:srgbClr val="E15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for Cotiviti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POSITION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41348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413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5179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rules; add reasoning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71600" y="184708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deterministic edits (NCCI, coverage) with an agent, and add ML + provider analytics as supporting evidence — never the sole basis for a denial.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2802636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8026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679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governance the product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71600" y="3008376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guardrails, immutable audit trails, and NIST-aligned documentation built in. In a market shifting to agentic AI, verifiable safety is a differentiator.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694176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88900" dist="38100" dir="5400000" algn="bl" rotWithShape="0">
              <a:srgbClr val="9AAAB5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963924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9639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policy in retrieval (RAG)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71600" y="4169664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and cite the actual coverage policies and guidelines behind each decision — a bridge toward converting written policy into executable rules.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standard FHIR claim resources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full real NCCI, MUE, and LCD/NCD policy tables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specialized planning, payment, clinical, and governance agents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and federated learning from reviewer feedback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3291840"/>
            <a:ext cx="2743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1021</Words>
  <Application>Microsoft Macintosh PowerPoint</Application>
  <PresentationFormat>On-screen Show (16:9)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— Agentic Payment-Integrity Analyst</dc:title>
  <dc:subject>PptxGenJS Presentation</dc:subject>
  <dc:creator>Aegis</dc:creator>
  <cp:lastModifiedBy>Latha Boralingaiah</cp:lastModifiedBy>
  <cp:revision>2</cp:revision>
  <dcterms:created xsi:type="dcterms:W3CDTF">2026-07-03T01:55:26Z</dcterms:created>
  <dcterms:modified xsi:type="dcterms:W3CDTF">2026-07-04T05:51:52Z</dcterms:modified>
</cp:coreProperties>
</file>